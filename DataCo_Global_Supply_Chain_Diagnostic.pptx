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49ABA9-2B03-4E98-B262-1CF8D204D39A}">
  <a:tblStyle styleId="{1A49ABA9-2B03-4E98-B262-1CF8D204D3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font" Target="fonts/ArialBlack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877d20414_3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877d20414_3_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877d20414_3_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877d20414_3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d877d20414_3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877d20414_3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77d20414_3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877d20414_3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877d20414_3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77d20414_3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d877d20414_3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877d20414_3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877d20414_3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d877d20414_3_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877d20414_3_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77d20414_3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877d20414_3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877d20414_3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77d20414_3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d877d20414_3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877d20414_3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877d20414_3_1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877d20414_3_1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877d20414_3_1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77d20414_3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877d20414_3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877d20414_3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877d20414_3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877d20414_3_1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877d20414_3_1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DATACO GLOBAL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GB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Supply Chain Diagnostic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Exposing $2.05M Hidden Leakage &amp; Systemic Control Failures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180,519 Orders Analyzed | 11</a:t>
            </a:r>
            <a:r>
              <a:rPr lang="en-GB">
                <a:solidFill>
                  <a:srgbClr val="64748B"/>
                </a:solidFill>
              </a:rPr>
              <a:t>7</a:t>
            </a:r>
            <a:r>
              <a:rPr b="0" i="0" lang="en-GB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SKUs | </a:t>
            </a:r>
            <a:r>
              <a:rPr lang="en-GB">
                <a:solidFill>
                  <a:srgbClr val="64748B"/>
                </a:solidFill>
              </a:rPr>
              <a:t>$25 Million in Sales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Jonathan Wasiatycz | April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Arial Black"/>
              <a:buNone/>
            </a:pPr>
            <a:r>
              <a:rPr b="0" i="0" lang="en-GB" sz="2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The Story in 4 Beats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Profit Illusion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188720" y="1783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Phantom $3.88M loss exposed as data 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Delivery Execution Breakdown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188720" y="2606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54.83% late rate — First Class at 95%+ 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57200" y="3131823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188720" y="313182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$2.05M Status Chaos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188720" y="3429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95K orders stuck &gt;90 days — the real killer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18872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Immediate Action 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188720" y="4251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Ranked fixes with owners, timelines &amp; $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THE OPERATION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Arial Black"/>
              <a:buNone/>
            </a:pPr>
            <a:r>
              <a:rPr b="0" i="0" lang="en-GB" sz="26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DataCo Global Dataset at Scale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57200" y="13716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Arial Black"/>
              <a:buNone/>
            </a:pPr>
            <a:r>
              <a:rPr b="0" i="0" lang="en-GB" sz="28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180,519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Orders Processed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291840" y="13716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Arial Black"/>
              <a:buNone/>
            </a:pPr>
            <a:r>
              <a:rPr b="0" i="0" lang="en-GB" sz="28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r>
              <a:rPr lang="en-GB" sz="2800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Active SKUs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26480" y="13716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Arial Black"/>
              <a:buNone/>
            </a:pPr>
            <a:r>
              <a:rPr lang="en-GB" sz="2800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$25 Million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12648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64748B"/>
                </a:solidFill>
              </a:rPr>
              <a:t>Total Sales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High-volume logistics operator managing end-to-end fulfillment, warehousing, and multimodal shipping for retail partners and direct-to-consumer channels.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Mission: Quantify real waste, expose hidden control gaps, and surface immediately actionable fixes.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4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4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 Black"/>
              <a:buNone/>
            </a:pPr>
            <a:r>
              <a:rPr b="0" i="0" lang="en-GB" sz="2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The Headline Numbers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RAW PROFIT 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40080" y="15544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200"/>
              <a:buFont typeface="Arial Black"/>
              <a:buNone/>
            </a:pPr>
            <a:r>
              <a:rPr b="0" i="0" lang="en-GB" sz="32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$3.88M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40080" y="2148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loss across 34K 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4754880" y="118872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RECONSTRUCTED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937760" y="15544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200"/>
              <a:buFont typeface="Arial Black"/>
              <a:buNone/>
            </a:pPr>
            <a:r>
              <a:rPr b="0" i="0" lang="en-GB" sz="3200" u="none" cap="none" strike="noStrike">
                <a:solidFill>
                  <a:srgbClr val="059669"/>
                </a:solidFill>
                <a:latin typeface="Arial Black"/>
                <a:ea typeface="Arial Black"/>
                <a:cs typeface="Arial Black"/>
                <a:sym typeface="Arial Black"/>
              </a:rPr>
              <a:t>$905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true loss (79 orders)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457200" y="274320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640080" y="2834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AGED-STUCK ORDERS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40080" y="310896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200"/>
              <a:buFont typeface="Arial Black"/>
              <a:buNone/>
            </a:pPr>
            <a:r>
              <a:rPr b="0" i="0" lang="en-GB" sz="32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95K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&gt;90 days → $2.05M 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754880" y="274320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937760" y="2834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LATE DELIVERY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937760" y="310896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200"/>
              <a:buFont typeface="Arial Black"/>
              <a:buNone/>
            </a:pPr>
            <a:r>
              <a:rPr b="0" i="0" lang="en-GB" sz="32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54.83%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937760" y="3703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First Class: 95%+ failure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system is blind and execution is broken. Phantom losses masked real operational hemorrhage.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GB" sz="2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Reconstructing the True Profit Signal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 true unit cost column existed in the dataset. The provided 'Benefit per order' and 'Order Item Profit' fields produced wildly inconsistent implied costs — even for the exact same SKU.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Built a stable Estimated Unit Cost using median Order Item Profit Ratio per product, with a 40% gross margin floor for low-volume SKUs. Applied row-by-row across all 180,519 orders.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Result: Phantom $3.88M loss collapsed to $905. The 'loss-making' orders were almost entirely artifacts of bad costing assumptions, not actual unprofitability.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Example: Dell Laptop — Before vs 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9"/>
          <p:cNvGraphicFramePr/>
          <p:nvPr/>
        </p:nvGraphicFramePr>
        <p:xfrm>
          <a:off x="457200" y="3566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{1A49ABA9-2B03-4E98-B262-1CF8D204D39A}</a:tableStyleId>
              </a:tblPr>
              <a:tblGrid>
                <a:gridCol w="2286000"/>
                <a:gridCol w="2971800"/>
                <a:gridCol w="29718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Implied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Reconstructed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 Cost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</a:t>
                      </a:r>
                      <a:r>
                        <a:rPr lang="en-GB" sz="1000"/>
                        <a:t>189</a:t>
                      </a: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000"/>
                        <a:t>+ </a:t>
                      </a: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wildly inconsistent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1,095</a:t>
                      </a: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(stable median)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Profit Signal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Some orders showed -$2,000+ loss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Consistent positive margin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Appeared loss-making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Profitable under stable baseline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DELIVERY 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GB" sz="2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Systemic Failure Across All Shi</a:t>
            </a:r>
            <a:r>
              <a:rPr lang="en-GB" sz="2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pping </a:t>
            </a:r>
            <a:r>
              <a:rPr b="0" i="0" lang="en-GB" sz="2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Modes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57200" y="1051560"/>
            <a:ext cx="2011680" cy="82296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 Black"/>
              <a:buNone/>
            </a:pPr>
            <a:r>
              <a:rPr b="0" i="0" lang="en-GB" sz="20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54.83%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457200" y="1508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Late 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2606040" y="105156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2606040" y="1097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 Black"/>
              <a:buNone/>
            </a:pPr>
            <a:r>
              <a:rPr b="0" i="0" lang="en-GB" sz="20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1.60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2606040" y="1508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Avg Days Late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754880" y="105156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754880" y="1097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 Black"/>
              <a:buNone/>
            </a:pPr>
            <a:r>
              <a:rPr b="0" i="0" lang="en-GB" sz="20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103K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4754880" y="1508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Late Orders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903720" y="1051560"/>
            <a:ext cx="2011680" cy="82296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6903720" y="1097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 Black"/>
              <a:buNone/>
            </a:pPr>
            <a:r>
              <a:rPr b="0" i="0" lang="en-GB" sz="20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23.68%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6903720" y="1508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Need Escalation (2-4 days)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11680"/>
            <a:ext cx="50292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5669275" y="2011675"/>
            <a:ext cx="3017400" cy="292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852160" y="21488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 Black"/>
              <a:buNone/>
            </a:pPr>
            <a:r>
              <a:rPr b="0" i="0" lang="en-GB" sz="11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FIRST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 Black"/>
              <a:buNone/>
            </a:pPr>
            <a:r>
              <a:rPr b="0" i="0" lang="en-GB" sz="1100" u="none" cap="none" strike="noStrike">
                <a:solidFill>
                  <a:srgbClr val="DC2626"/>
                </a:solidFill>
                <a:latin typeface="Arial Black"/>
                <a:ea typeface="Arial Black"/>
                <a:cs typeface="Arial Black"/>
                <a:sym typeface="Arial Black"/>
              </a:rPr>
              <a:t>CATASTROPHE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852125" y="2802688"/>
            <a:ext cx="26517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95%+ late rate on the premium service customers pay extra for. Highest escalation volume despite lowest total orders. Destroys trust and inflates cost.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852160" y="411480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23.68% of all completed orders fall into the 2–4 day escalation window. Standard &amp; Second Class dominate the failure volume.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THE $2.05M BLIND SPOT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95,000 Orders Stuck &gt;90 Days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52.41% of the entire dataset | $2.05M in unrecognized potential loss | 93%+ actually shipped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21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{1A49ABA9-2B03-4E98-B262-1CF8D204D39A}</a:tableStyleId>
              </a:tblPr>
              <a:tblGrid>
                <a:gridCol w="3200400"/>
                <a:gridCol w="2514600"/>
                <a:gridCol w="2514600"/>
              </a:tblGrid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 STATUS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AGED STUCK $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TOTAL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PENDING_PAYMENT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$852,636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40.78%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$458,329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22.41%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$420,973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20.68%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ON_HOLD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$198,113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10.04%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SUSPECTED_FRAUD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$38,423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1.93%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PAYMENT_REVIEW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$38,423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1.93%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1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Money left the building years ago. ... The system still believes these orders are 'pending' or 'on hold'.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This is catastrophic control failure. Hidden fraud vectors. Audit nightmares. Zero visibility. The data model is blind.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Arial Black"/>
              <a:buNone/>
            </a:pPr>
            <a:r>
              <a:rPr b="0" i="0" lang="en-GB" sz="2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Three Systemic Failures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051560" y="11430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Profit Signal Contaminated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051560" y="146304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Extreme discount volatility + missing unit cost column created phantom $3.88M loss. True unprofitable orders: 79. The 'loss' was noise from bad data assumptions, not pricing failure.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051560" y="23774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Delivery Execution Broken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051560" y="26974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54.83% late rate across all modes. First Class (premium service) fails at 95%+. 23.68% of orders require 2–4 day escalation. Standard Class carries the highest failure volume. Customer trust and cost both destroyed.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1051560" y="36118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Status Management Failure = $2.05M Leak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1051560" y="3931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95K orders (52%) stuck &gt;90 days in non-final statuses while 93%+ physically shipped. $2.05M locked in blind capital. Creates hidden fraud vectors, audit risk, and zero operational visibility. This is the single largest hidden leak.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0" i="0" lang="en-GB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Ranked Action Plan with Owners &amp; Timelines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PRIORITY 1 — IMMEDIATE (30 DAYS)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Mandatory real-time status updates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Require fulfillment teams to update every order to 'payment received/cleared' before any shipment leaves the warehouse. No exceptions. Owner: Ops + Finance. Impact: Stops the blind spot at source.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Auto-cancellation triggers for aged orders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Auto-flag or cancel orders stuck &gt;30/60/90 days in pending/on-hold/suspected fraud. Frees $2M+ working capital. Owner: IT + Finance. Impact: Cleans data model, reduces fraud exposure.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548640" y="285292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PRIORITY 2 — 45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Tiered escalation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2-day: warehouse reminder → 3-day: manager notification → 4-day: district manager escalation. Targets the 23.68% in the 2–4 day window. Owner: Site Ops. Impact: Cuts late shipments, protects customer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Deprioritize/restrict First Class for high-bleed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Immediately limit First Class for Fishing, Cleats, Camping &amp; Hiking (highest failure categories). Owner: Logistics. Impact: Kills 95%+ late rate on premium service.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Stop the Bleed. Turn Data into Control.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THIS WEEK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2103120" y="150876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 cross-functional task force (Ops + Finance + IT + Risk)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57200" y="205740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457200" y="2057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30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2103120" y="210312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 top 20% of aged-stuck value by $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60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2103120" y="269748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escalation framework + mandatory status policy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57200" y="324612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457200" y="32461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90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2103120" y="3291840"/>
            <a:ext cx="658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Re-audit P&amp;L with stable unit cost baseline; measure late rate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None/>
            </a:pPr>
            <a:r>
              <a:rPr b="0" i="1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The data model is currently lying to </a:t>
            </a:r>
            <a:r>
              <a:rPr i="1" lang="en-GB" sz="1100">
                <a:solidFill>
                  <a:srgbClr val="DC2626"/>
                </a:solidFill>
              </a:rPr>
              <a:t>us</a:t>
            </a:r>
            <a:r>
              <a:rPr b="0" i="1" lang="en-GB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. Every day of delay costs real money and real trust.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Let's schedule the kickoff.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