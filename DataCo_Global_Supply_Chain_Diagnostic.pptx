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5143500" cx="9144000"/>
  <p:notesSz cx="6858000" cy="9144000"/>
  <p:embeddedFontLst>
    <p:embeddedFont>
      <p:font typeface="Arial Black"/>
      <p:regular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38E29A-7394-4ABC-B9FA-59CEFF82216F}">
  <a:tblStyle styleId="{EE38E29A-7394-4ABC-B9FA-59CEFF8221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font" Target="fonts/ArialBlack-regular.fntdata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877d20414_3_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d877d20414_3_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d877d20414_3_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877d20414_3_1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d877d20414_3_1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g3d877d20414_3_1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877d20414_3_3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g3d877d20414_3_3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d877d20414_3_3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877d20414_3_5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d877d20414_3_5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g3d877d20414_3_5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877d20414_3_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d877d20414_3_82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g3d877d20414_3_82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877d20414_3_9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g3d877d20414_3_9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d877d20414_3_9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877d20414_3_10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877d20414_3_10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g3d877d20414_3_10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d877d20414_3_13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g3d877d20414_3_13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g3d877d20414_3_13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877d20414_3_14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g3d877d20414_3_14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d877d20414_3_14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877d20414_3_15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g3d877d20414_3_15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d877d20414_3_15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d877d20414_3_18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g3d877d20414_3_18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d877d20414_3_18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F2FE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rgbClr val="E0F2FE"/>
                </a:solidFill>
                <a:latin typeface="Arial"/>
                <a:ea typeface="Arial"/>
                <a:cs typeface="Arial"/>
                <a:sym typeface="Arial"/>
              </a:rPr>
              <a:t>DATACO GLOBAL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 Black"/>
              <a:buNone/>
            </a:pPr>
            <a:r>
              <a:rPr b="1" i="0" lang="en-GB" sz="40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Supply Chain Diagnostic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Exposing $2.05M Hidden Leakage &amp; Systemic Control Failures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180,519 Orders Analyzed | 11</a:t>
            </a:r>
            <a:r>
              <a:rPr lang="en-GB">
                <a:solidFill>
                  <a:srgbClr val="64748B"/>
                </a:solidFill>
              </a:rPr>
              <a:t>7</a:t>
            </a:r>
            <a:r>
              <a:rPr b="0" i="0" lang="en-GB" sz="14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SKUs | </a:t>
            </a:r>
            <a:r>
              <a:rPr lang="en-GB">
                <a:solidFill>
                  <a:srgbClr val="64748B"/>
                </a:solidFill>
              </a:rPr>
              <a:t>$25 Million in Sales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Jonathan Wasiatycz | April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6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Arial Black"/>
              <a:buNone/>
            </a:pPr>
            <a:r>
              <a:rPr b="0" i="0" lang="en-GB" sz="28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The Story in 4 Beats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457200" y="1463040"/>
            <a:ext cx="548640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6"/>
          <p:cNvSpPr/>
          <p:nvPr/>
        </p:nvSpPr>
        <p:spPr>
          <a:xfrm>
            <a:off x="457200" y="14630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6"/>
          <p:cNvSpPr/>
          <p:nvPr/>
        </p:nvSpPr>
        <p:spPr>
          <a:xfrm>
            <a:off x="1188720" y="14630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Arial"/>
              <a:buNone/>
            </a:pPr>
            <a:r>
              <a:rPr b="1" i="0" lang="en-GB" sz="16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The Profit Illusion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1188720" y="1783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Phantom $3.88M loss exposed as data noise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57200" y="2286000"/>
            <a:ext cx="548640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457200" y="228600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Arial"/>
              <a:buNone/>
            </a:pPr>
            <a:r>
              <a:rPr b="1" i="0" lang="en-GB" sz="16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Delivery Execution Breakdown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1188720" y="2606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54.83% late rate — First Class at 95%+ failure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/>
          <p:nvPr/>
        </p:nvSpPr>
        <p:spPr>
          <a:xfrm>
            <a:off x="457200" y="3131823"/>
            <a:ext cx="548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1188720" y="3131823"/>
            <a:ext cx="73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Arial"/>
              <a:buNone/>
            </a:pPr>
            <a:r>
              <a:rPr b="1" i="0" lang="en-GB" sz="16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The $2.05M Status Chaos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1188720" y="34290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95K orders stuck &gt;90 days — the real killer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457200" y="3931920"/>
            <a:ext cx="548640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/>
          <p:nvPr/>
        </p:nvSpPr>
        <p:spPr>
          <a:xfrm>
            <a:off x="457200" y="39319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1188720" y="39319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Arial"/>
              <a:buNone/>
            </a:pPr>
            <a:r>
              <a:rPr b="1" i="0" lang="en-GB" sz="16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Immediate Action Plan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1188720" y="42519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Ranked fixes with owners, timelines &amp; $ impact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THE OPERATION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600"/>
              <a:buFont typeface="Arial Black"/>
              <a:buNone/>
            </a:pPr>
            <a:r>
              <a:rPr b="0" i="0" lang="en-GB" sz="26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DataCo Global Dataset at Scale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7"/>
          <p:cNvSpPr/>
          <p:nvPr/>
        </p:nvSpPr>
        <p:spPr>
          <a:xfrm>
            <a:off x="457200" y="13716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7"/>
          <p:cNvSpPr/>
          <p:nvPr/>
        </p:nvSpPr>
        <p:spPr>
          <a:xfrm>
            <a:off x="457200" y="146304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800"/>
              <a:buFont typeface="Arial Black"/>
              <a:buNone/>
            </a:pPr>
            <a:r>
              <a:rPr b="0" i="0" lang="en-GB" sz="2800" u="none" cap="none" strike="noStrike">
                <a:solidFill>
                  <a:srgbClr val="1E3A5F"/>
                </a:solidFill>
                <a:latin typeface="Arial Black"/>
                <a:ea typeface="Arial Black"/>
                <a:cs typeface="Arial Black"/>
                <a:sym typeface="Arial Black"/>
              </a:rPr>
              <a:t>180,519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7"/>
          <p:cNvSpPr/>
          <p:nvPr/>
        </p:nvSpPr>
        <p:spPr>
          <a:xfrm>
            <a:off x="457200" y="210312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Orders Processed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3291840" y="13716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/>
          <p:nvPr/>
        </p:nvSpPr>
        <p:spPr>
          <a:xfrm>
            <a:off x="3291840" y="146304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800"/>
              <a:buFont typeface="Arial Black"/>
              <a:buNone/>
            </a:pPr>
            <a:r>
              <a:rPr b="0" i="0" lang="en-GB" sz="2800" u="none" cap="none" strike="noStrike">
                <a:solidFill>
                  <a:srgbClr val="1E3A5F"/>
                </a:solidFill>
                <a:latin typeface="Arial Black"/>
                <a:ea typeface="Arial Black"/>
                <a:cs typeface="Arial Black"/>
                <a:sym typeface="Arial Black"/>
              </a:rPr>
              <a:t>11</a:t>
            </a:r>
            <a:r>
              <a:rPr lang="en-GB" sz="2800">
                <a:solidFill>
                  <a:srgbClr val="1E3A5F"/>
                </a:solidFill>
                <a:latin typeface="Arial Black"/>
                <a:ea typeface="Arial Black"/>
                <a:cs typeface="Arial Black"/>
                <a:sym typeface="Arial Black"/>
              </a:rPr>
              <a:t>7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3291840" y="210312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Active SKUs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6126480" y="13716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7"/>
          <p:cNvSpPr/>
          <p:nvPr/>
        </p:nvSpPr>
        <p:spPr>
          <a:xfrm>
            <a:off x="6126480" y="146304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800"/>
              <a:buFont typeface="Arial Black"/>
              <a:buNone/>
            </a:pPr>
            <a:r>
              <a:rPr lang="en-GB" sz="2800">
                <a:solidFill>
                  <a:srgbClr val="1E3A5F"/>
                </a:solidFill>
                <a:latin typeface="Arial Black"/>
                <a:ea typeface="Arial Black"/>
                <a:cs typeface="Arial Black"/>
                <a:sym typeface="Arial Black"/>
              </a:rPr>
              <a:t>$25 Million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7"/>
          <p:cNvSpPr/>
          <p:nvPr/>
        </p:nvSpPr>
        <p:spPr>
          <a:xfrm>
            <a:off x="6126480" y="210312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lang="en-GB" sz="1100">
                <a:solidFill>
                  <a:srgbClr val="64748B"/>
                </a:solidFill>
              </a:rPr>
              <a:t>Total Sales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457200" y="2834640"/>
            <a:ext cx="8229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0" i="0" lang="en-GB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High-volume logistics operator managing end-to-end fulfillment, warehousing, and multimodal shipping for retail partners and direct-to-consumer channels.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0" i="0" lang="en-GB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Mission: Quantify real waste, expose hidden control gaps, and surface immediately actionable fixes.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8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Arial Black"/>
              <a:buNone/>
            </a:pPr>
            <a:r>
              <a:rPr b="0" i="0" lang="en-GB" sz="24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The Headline Numbers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8"/>
          <p:cNvSpPr/>
          <p:nvPr/>
        </p:nvSpPr>
        <p:spPr>
          <a:xfrm>
            <a:off x="457200" y="1188720"/>
            <a:ext cx="41148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8"/>
          <p:cNvSpPr/>
          <p:nvPr/>
        </p:nvSpPr>
        <p:spPr>
          <a:xfrm>
            <a:off x="457200" y="1188720"/>
            <a:ext cx="73152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8"/>
          <p:cNvSpPr/>
          <p:nvPr/>
        </p:nvSpPr>
        <p:spPr>
          <a:xfrm>
            <a:off x="640080" y="128016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RAW PROFIT SIGNAL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640080" y="155448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3200"/>
              <a:buFont typeface="Arial Black"/>
              <a:buNone/>
            </a:pPr>
            <a:r>
              <a:rPr b="0" i="0" lang="en-GB" sz="32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$3.88M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8"/>
          <p:cNvSpPr/>
          <p:nvPr/>
        </p:nvSpPr>
        <p:spPr>
          <a:xfrm>
            <a:off x="640080" y="214884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loss across 34K orders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8"/>
          <p:cNvSpPr/>
          <p:nvPr/>
        </p:nvSpPr>
        <p:spPr>
          <a:xfrm>
            <a:off x="4754880" y="1188720"/>
            <a:ext cx="41148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/>
          <p:cNvSpPr/>
          <p:nvPr/>
        </p:nvSpPr>
        <p:spPr>
          <a:xfrm>
            <a:off x="4754880" y="1188720"/>
            <a:ext cx="731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RECONSTRUCTED REALITY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4937760" y="155448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3200"/>
              <a:buFont typeface="Arial Black"/>
              <a:buNone/>
            </a:pPr>
            <a:r>
              <a:rPr b="0" i="0" lang="en-GB" sz="3200" u="none" cap="none" strike="noStrike">
                <a:solidFill>
                  <a:srgbClr val="059669"/>
                </a:solidFill>
                <a:latin typeface="Arial Black"/>
                <a:ea typeface="Arial Black"/>
                <a:cs typeface="Arial Black"/>
                <a:sym typeface="Arial Black"/>
              </a:rPr>
              <a:t>$905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8"/>
          <p:cNvSpPr/>
          <p:nvPr/>
        </p:nvSpPr>
        <p:spPr>
          <a:xfrm>
            <a:off x="4937760" y="214884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true loss (79 orders)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8"/>
          <p:cNvSpPr/>
          <p:nvPr/>
        </p:nvSpPr>
        <p:spPr>
          <a:xfrm>
            <a:off x="457200" y="2743200"/>
            <a:ext cx="41148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8"/>
          <p:cNvSpPr/>
          <p:nvPr/>
        </p:nvSpPr>
        <p:spPr>
          <a:xfrm>
            <a:off x="457200" y="2743200"/>
            <a:ext cx="73152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8"/>
          <p:cNvSpPr/>
          <p:nvPr/>
        </p:nvSpPr>
        <p:spPr>
          <a:xfrm>
            <a:off x="640080" y="283464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AGED-STUCK ORDERS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640080" y="310896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3200"/>
              <a:buFont typeface="Arial Black"/>
              <a:buNone/>
            </a:pPr>
            <a:r>
              <a:rPr b="0" i="0" lang="en-GB" sz="32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95K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640080" y="370332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&gt;90 days → $2.05M 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4754880" y="2743200"/>
            <a:ext cx="41148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8"/>
          <p:cNvSpPr/>
          <p:nvPr/>
        </p:nvSpPr>
        <p:spPr>
          <a:xfrm>
            <a:off x="4754880" y="2743200"/>
            <a:ext cx="73152" cy="1371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8"/>
          <p:cNvSpPr/>
          <p:nvPr/>
        </p:nvSpPr>
        <p:spPr>
          <a:xfrm>
            <a:off x="4937760" y="283464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LATE DELIVERY 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4937760" y="3108960"/>
            <a:ext cx="3749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3200"/>
              <a:buFont typeface="Arial Black"/>
              <a:buNone/>
            </a:pPr>
            <a:r>
              <a:rPr b="0" i="0" lang="en-GB" sz="32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54.83%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4937760" y="3703320"/>
            <a:ext cx="3749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First Class: 95%+ failure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b="0" i="1" lang="en-GB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The system is blind and execution is broken. Phantom losses masked real operational hemorrhage.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500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9"/>
          <p:cNvSpPr/>
          <p:nvPr/>
        </p:nvSpPr>
        <p:spPr>
          <a:xfrm>
            <a:off x="457200" y="274320"/>
            <a:ext cx="8229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THE PROFIT ILLUSION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9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Arial Black"/>
              <a:buNone/>
            </a:pPr>
            <a:r>
              <a:rPr b="0" i="0" lang="en-GB" sz="22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What We Thought vs What Actually Is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/>
          <p:nvPr/>
        </p:nvSpPr>
        <p:spPr>
          <a:xfrm>
            <a:off x="457200" y="1188720"/>
            <a:ext cx="3931800" cy="2011800"/>
          </a:xfrm>
          <a:prstGeom prst="rect">
            <a:avLst/>
          </a:prstGeom>
          <a:solidFill>
            <a:srgbClr val="FEF2F2"/>
          </a:solidFill>
          <a:ln cap="flat" cmpd="sng" w="1905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9"/>
          <p:cNvSpPr/>
          <p:nvPr/>
        </p:nvSpPr>
        <p:spPr>
          <a:xfrm>
            <a:off x="640080" y="128016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ORIGINAL SIGNAL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640080" y="1600200"/>
            <a:ext cx="3566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3600"/>
              <a:buFont typeface="Arial Black"/>
              <a:buNone/>
            </a:pPr>
            <a:r>
              <a:rPr b="0" i="0" lang="en-GB" sz="36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$3.88M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9"/>
          <p:cNvSpPr/>
          <p:nvPr/>
        </p:nvSpPr>
        <p:spPr>
          <a:xfrm>
            <a:off x="640080" y="2286000"/>
            <a:ext cx="3566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Implied loss across 33,784 orders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(18.7% of total volume)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/>
          <p:nvPr/>
        </p:nvSpPr>
        <p:spPr>
          <a:xfrm>
            <a:off x="4754880" y="1188720"/>
            <a:ext cx="3931800" cy="2011800"/>
          </a:xfrm>
          <a:prstGeom prst="rect">
            <a:avLst/>
          </a:prstGeom>
          <a:solidFill>
            <a:srgbClr val="ECFDF5"/>
          </a:solidFill>
          <a:ln cap="flat" cmpd="sng" w="1905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9"/>
          <p:cNvSpPr/>
          <p:nvPr/>
        </p:nvSpPr>
        <p:spPr>
          <a:xfrm>
            <a:off x="4937760" y="1280160"/>
            <a:ext cx="3566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059669"/>
                </a:solidFill>
                <a:latin typeface="Arial"/>
                <a:ea typeface="Arial"/>
                <a:cs typeface="Arial"/>
                <a:sym typeface="Arial"/>
              </a:rPr>
              <a:t>RECONSTRUCTED REALITY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4937760" y="1600200"/>
            <a:ext cx="3566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3600"/>
              <a:buFont typeface="Arial Black"/>
              <a:buNone/>
            </a:pPr>
            <a:r>
              <a:rPr b="0" i="0" lang="en-GB" sz="3600" u="none" cap="none" strike="noStrike">
                <a:solidFill>
                  <a:srgbClr val="059669"/>
                </a:solidFill>
                <a:latin typeface="Arial Black"/>
                <a:ea typeface="Arial Black"/>
                <a:cs typeface="Arial Black"/>
                <a:sym typeface="Arial Black"/>
              </a:rPr>
              <a:t>$905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4937760" y="2286000"/>
            <a:ext cx="35661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True loss across only 79 orders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(0.04% of total volume)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9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9"/>
          <p:cNvSpPr/>
          <p:nvPr/>
        </p:nvSpPr>
        <p:spPr>
          <a:xfrm>
            <a:off x="640080" y="3520440"/>
            <a:ext cx="7863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KEY DISCOVERY: PROFIT SIGNAL WAS CONTAMINATED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9"/>
          <p:cNvSpPr/>
          <p:nvPr/>
        </p:nvSpPr>
        <p:spPr>
          <a:xfrm>
            <a:off x="640080" y="3840480"/>
            <a:ext cx="78639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Same product (Field &amp; Stream Sportsman 16 Gun Fire Safe) showed $150 – $1,485 implied unit cost swing driven solely by discount bucket — on identical physical items. The original 'Benefit per order' field was noise, not signal. Discounts created 10× unit cost volatility.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METHOD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Arial Black"/>
              <a:buNone/>
            </a:pPr>
            <a:r>
              <a:rPr b="0" i="0" lang="en-GB" sz="22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Reconstructing the True Profit Signal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457200" y="1097280"/>
            <a:ext cx="82296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No true unit cost column existed in the dataset. The provided 'Benefit per order' and 'Order Item Profit' fields produced wildly inconsistent implied costs — even for the exact same SKU.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Built a stable Estimated Unit Cost using median Order Item Profit Ratio per product, with a 40% gross margin floor for low-volume SKUs. Applied row-by-row across all 180,519 orders.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Result: Phantom $3.88M loss collapsed to $905. The 'loss-making' orders were almost entirely artifacts of bad costing assumptions, not actual unprofitability.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Example: Dell Laptop — Before vs After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8" name="Google Shape;158;p20"/>
          <p:cNvGraphicFramePr/>
          <p:nvPr/>
        </p:nvGraphicFramePr>
        <p:xfrm>
          <a:off x="457200" y="35661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{EE38E29A-7394-4ABC-B9FA-59CEFF82216F}</a:tableStyleId>
              </a:tblPr>
              <a:tblGrid>
                <a:gridCol w="2286000"/>
                <a:gridCol w="2971800"/>
                <a:gridCol w="2971800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Original Implied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Reconstructed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Unit Cost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</a:t>
                      </a: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</a:t>
                      </a:r>
                      <a:r>
                        <a:rPr lang="en-GB" sz="1000"/>
                        <a:t>189</a:t>
                      </a: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GB" sz="1000"/>
                        <a:t>+ </a:t>
                      </a: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wildly inconsistent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</a:t>
                      </a: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1,095</a:t>
                      </a: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(stable median)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Profit Signal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Some orders showed -$2,000+ loss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Consistent positive margin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Classification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Appeared loss-making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Profitable under stable baseline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DELIVERY EXECUTION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1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Arial Black"/>
              <a:buNone/>
            </a:pPr>
            <a:r>
              <a:rPr b="0" i="0" lang="en-GB" sz="22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Systemic Failure Across All Shi</a:t>
            </a:r>
            <a:r>
              <a:rPr lang="en-GB" sz="2200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pping </a:t>
            </a:r>
            <a:r>
              <a:rPr b="0" i="0" lang="en-GB" sz="22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Modes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1"/>
          <p:cNvSpPr/>
          <p:nvPr/>
        </p:nvSpPr>
        <p:spPr>
          <a:xfrm>
            <a:off x="457200" y="1051560"/>
            <a:ext cx="2011680" cy="822960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1"/>
          <p:cNvSpPr/>
          <p:nvPr/>
        </p:nvSpPr>
        <p:spPr>
          <a:xfrm>
            <a:off x="457200" y="10972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2000"/>
              <a:buFont typeface="Arial Black"/>
              <a:buNone/>
            </a:pPr>
            <a:r>
              <a:rPr b="0" i="0" lang="en-GB" sz="20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54.83%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1"/>
          <p:cNvSpPr/>
          <p:nvPr/>
        </p:nvSpPr>
        <p:spPr>
          <a:xfrm>
            <a:off x="457200" y="15087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Late Rate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1"/>
          <p:cNvSpPr/>
          <p:nvPr/>
        </p:nvSpPr>
        <p:spPr>
          <a:xfrm>
            <a:off x="2606040" y="1051560"/>
            <a:ext cx="201168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1"/>
          <p:cNvSpPr/>
          <p:nvPr/>
        </p:nvSpPr>
        <p:spPr>
          <a:xfrm>
            <a:off x="2606040" y="10972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2000"/>
              <a:buFont typeface="Arial Black"/>
              <a:buNone/>
            </a:pPr>
            <a:r>
              <a:rPr b="0" i="0" lang="en-GB" sz="20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1.60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1"/>
          <p:cNvSpPr/>
          <p:nvPr/>
        </p:nvSpPr>
        <p:spPr>
          <a:xfrm>
            <a:off x="2606040" y="15087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Avg Days Late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1"/>
          <p:cNvSpPr/>
          <p:nvPr/>
        </p:nvSpPr>
        <p:spPr>
          <a:xfrm>
            <a:off x="4754880" y="1051560"/>
            <a:ext cx="201168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1"/>
          <p:cNvSpPr/>
          <p:nvPr/>
        </p:nvSpPr>
        <p:spPr>
          <a:xfrm>
            <a:off x="4754880" y="10972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2000"/>
              <a:buFont typeface="Arial Black"/>
              <a:buNone/>
            </a:pPr>
            <a:r>
              <a:rPr b="0" i="0" lang="en-GB" sz="20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103K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1"/>
          <p:cNvSpPr/>
          <p:nvPr/>
        </p:nvSpPr>
        <p:spPr>
          <a:xfrm>
            <a:off x="4754880" y="15087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Late Orders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6903720" y="1051560"/>
            <a:ext cx="2011680" cy="822960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1"/>
          <p:cNvSpPr/>
          <p:nvPr/>
        </p:nvSpPr>
        <p:spPr>
          <a:xfrm>
            <a:off x="6903720" y="10972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2000"/>
              <a:buFont typeface="Arial Black"/>
              <a:buNone/>
            </a:pPr>
            <a:r>
              <a:rPr b="0" i="0" lang="en-GB" sz="20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23.68%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1"/>
          <p:cNvSpPr/>
          <p:nvPr/>
        </p:nvSpPr>
        <p:spPr>
          <a:xfrm>
            <a:off x="6903720" y="150876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Need Escalation (2-4 days)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1"/>
          <p:cNvSpPr/>
          <p:nvPr/>
        </p:nvSpPr>
        <p:spPr>
          <a:xfrm>
            <a:off x="5669275" y="2011675"/>
            <a:ext cx="3017400" cy="2926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1"/>
          <p:cNvSpPr/>
          <p:nvPr/>
        </p:nvSpPr>
        <p:spPr>
          <a:xfrm>
            <a:off x="5852160" y="2148840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 Black"/>
              <a:buNone/>
            </a:pPr>
            <a:r>
              <a:rPr b="0" i="0" lang="en-GB" sz="11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FIRST CLASS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 Black"/>
              <a:buNone/>
            </a:pPr>
            <a:r>
              <a:rPr b="0" i="0" lang="en-GB" sz="1100" u="none" cap="none" strike="noStrike">
                <a:solidFill>
                  <a:srgbClr val="DC2626"/>
                </a:solidFill>
                <a:latin typeface="Arial Black"/>
                <a:ea typeface="Arial Black"/>
                <a:cs typeface="Arial Black"/>
                <a:sym typeface="Arial Black"/>
              </a:rPr>
              <a:t>CATASTROPHE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1"/>
          <p:cNvSpPr/>
          <p:nvPr/>
        </p:nvSpPr>
        <p:spPr>
          <a:xfrm>
            <a:off x="5852125" y="2802688"/>
            <a:ext cx="2651700" cy="120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95%+ late rate on the premium service customers pay extra for. Highest escalation volume despite lowest total orders. Destroys trust and inflates cost.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1"/>
          <p:cNvSpPr/>
          <p:nvPr/>
        </p:nvSpPr>
        <p:spPr>
          <a:xfrm>
            <a:off x="5852160" y="41148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E0F2FE"/>
              </a:buClr>
              <a:buSzPts val="800"/>
              <a:buFont typeface="Arial"/>
              <a:buNone/>
            </a:pPr>
            <a:r>
              <a:rPr b="0" i="0" lang="en-GB" sz="800" u="none" cap="none" strike="noStrike">
                <a:solidFill>
                  <a:srgbClr val="E0F2FE"/>
                </a:solidFill>
                <a:latin typeface="Arial"/>
                <a:ea typeface="Arial"/>
                <a:cs typeface="Arial"/>
                <a:sym typeface="Arial"/>
              </a:rPr>
              <a:t>23.68% of all completed orders fall into the 2–4 day escalation window. Standard &amp; Second Class dominate the failure volume.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200" y="2011662"/>
            <a:ext cx="5228799" cy="285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THE $2.05M BLIND SPOT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2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 Black"/>
              <a:buNone/>
            </a:pPr>
            <a:r>
              <a:rPr b="0" i="0" lang="en-GB" sz="2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95,000 Orders Stuck &gt;90 Days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52.41% of the entire dataset | $2.05M in unrecognized potential loss | 93%+ actually shipped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1" name="Google Shape;191;p22"/>
          <p:cNvGraphicFramePr/>
          <p:nvPr/>
        </p:nvGraphicFramePr>
        <p:xfrm>
          <a:off x="457200" y="14630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{EE38E29A-7394-4ABC-B9FA-59CEFF82216F}</a:tableStyleId>
              </a:tblPr>
              <a:tblGrid>
                <a:gridCol w="3200400"/>
                <a:gridCol w="2514600"/>
                <a:gridCol w="2514600"/>
              </a:tblGrid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ORDER STATUS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AGED STUCK $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 OF TOTAL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PENDING_PAYMENT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C2626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DC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$852,636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40.78%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PROCESSING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C2626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DC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$458,329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22.41%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PENDING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C2626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DC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$420,973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20.68%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ON_HOLD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C2626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DC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$198,113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10.04%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SUSPECTED_FRAUD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C2626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DC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$38,423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1.93%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1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PAYMENT_REVIEW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C2626"/>
                        </a:buClr>
                        <a:buSzPts val="1000"/>
                        <a:buFont typeface="Arial"/>
                        <a:buNone/>
                      </a:pPr>
                      <a:r>
                        <a:rPr b="1" lang="en-GB" sz="1000" u="none" cap="none" strike="noStrike">
                          <a:solidFill>
                            <a:srgbClr val="DC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$38,423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Arial"/>
                        <a:buNone/>
                      </a:pPr>
                      <a:r>
                        <a:rPr lang="en-GB" sz="10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1.93%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3415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22"/>
          <p:cNvSpPr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1" lang="en-GB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Money left the building years ago. ... The system still believes these orders are 'pending' or 'on hold'.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2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000"/>
              <a:buFont typeface="Arial"/>
              <a:buNone/>
            </a:pPr>
            <a:r>
              <a:rPr b="1" i="0" lang="en-GB" sz="10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This is catastrophic control failure. Hidden fraud vectors. Audit nightmares. Zero visibility. The data model is blind.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3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KEY TAKEAWAYS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3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Arial Black"/>
              <a:buNone/>
            </a:pPr>
            <a:r>
              <a:rPr b="0" i="0" lang="en-GB" sz="22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Three Systemic Failures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457200" y="1143000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457200" y="1143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3"/>
          <p:cNvSpPr/>
          <p:nvPr/>
        </p:nvSpPr>
        <p:spPr>
          <a:xfrm>
            <a:off x="1051560" y="1143000"/>
            <a:ext cx="7589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Profit Signal Contaminated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3"/>
          <p:cNvSpPr/>
          <p:nvPr/>
        </p:nvSpPr>
        <p:spPr>
          <a:xfrm>
            <a:off x="1051560" y="146304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Extreme discount volatility + missing unit cost column created phantom $3.88M loss. True unprofitable orders: 79. The 'loss' was noise from bad data assumptions, not pricing failure.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3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3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3"/>
          <p:cNvSpPr/>
          <p:nvPr/>
        </p:nvSpPr>
        <p:spPr>
          <a:xfrm>
            <a:off x="1051560" y="2377440"/>
            <a:ext cx="7589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Delivery Execution Broken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1051560" y="269748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54.83% late rate across all modes. First Class (premium service) fails at 95%+. 23.68% of orders require 2–4 day escalation. Standard Class carries the highest failure volume. Customer trust and cost both destroyed.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3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3"/>
          <p:cNvSpPr/>
          <p:nvPr/>
        </p:nvSpPr>
        <p:spPr>
          <a:xfrm>
            <a:off x="457200" y="36118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 Black"/>
              <a:buNone/>
            </a:pPr>
            <a:r>
              <a:rPr b="0" i="0" lang="en-GB" sz="1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/>
          <p:nvPr/>
        </p:nvSpPr>
        <p:spPr>
          <a:xfrm>
            <a:off x="1051560" y="3611880"/>
            <a:ext cx="7589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Arial"/>
              <a:buNone/>
            </a:pPr>
            <a:r>
              <a:rPr b="1" i="0" lang="en-GB" sz="14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Status Management Failure = $2.05M Leak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3"/>
          <p:cNvSpPr/>
          <p:nvPr/>
        </p:nvSpPr>
        <p:spPr>
          <a:xfrm>
            <a:off x="1051560" y="393192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Arial"/>
              <a:buNone/>
            </a:pPr>
            <a:r>
              <a:rPr b="0" i="0" lang="en-GB" sz="10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95K orders (52%) stuck &gt;90 days in non-final statuses while 93%+ physically shipped. $2.05M locked in blind capital. Creates hidden fraud vectors, audit risk, and zero operational visibility. This is the single largest hidden leak.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4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4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Arial Black"/>
              <a:buNone/>
            </a:pPr>
            <a:r>
              <a:rPr b="0" i="0" lang="en-GB" sz="1800" u="none" cap="none" strike="noStrike">
                <a:solidFill>
                  <a:srgbClr val="1E293B"/>
                </a:solidFill>
                <a:latin typeface="Arial Black"/>
                <a:ea typeface="Arial Black"/>
                <a:cs typeface="Arial Black"/>
                <a:sym typeface="Arial Black"/>
              </a:rPr>
              <a:t>Ranked Action Plan with Owners &amp; Timelines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4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4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PRIORITY 1 — IMMEDIATE (30 DAYS)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4"/>
          <p:cNvSpPr/>
          <p:nvPr/>
        </p:nvSpPr>
        <p:spPr>
          <a:xfrm>
            <a:off x="457200" y="1280160"/>
            <a:ext cx="8229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Mandatory real-time status updates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Require fulfillment teams to update every order to 'payment received/cleared' before any shipment leaves the warehouse. No exceptions. Owner: Ops + Finance. Impact: Stops the blind spot at source.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Auto-cancellation triggers for aged orders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Auto-flag or cancel orders stuck &gt;30/60/90 days in pending/on-hold/suspected fraud. Frees $2M+ working capital. Owner: IT + Finance. Impact: Cleans data model, reduces fraud exposure.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4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4"/>
          <p:cNvSpPr/>
          <p:nvPr/>
        </p:nvSpPr>
        <p:spPr>
          <a:xfrm>
            <a:off x="548640" y="2852928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PRIORITY 2 — 45 DAYS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4"/>
          <p:cNvSpPr/>
          <p:nvPr/>
        </p:nvSpPr>
        <p:spPr>
          <a:xfrm>
            <a:off x="457200" y="3200400"/>
            <a:ext cx="82296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Tiered escalation framework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2-day: warehouse reminder → 3-day: manager notification → 4-day: district manager escalation. Targets the 23.68% in the 2–4 day window. Owner: Site Ops. Impact: Cuts late shipments, protects customer experience.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1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Deprioritize/restrict First Class for high-bleed categories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Arial"/>
              <a:buNone/>
            </a:pPr>
            <a:r>
              <a:rPr b="0" i="0" lang="en-GB" sz="9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Immediately limit First Class for Fishing, Cleats, Camping &amp; Hiking (highest failure categories). Owner: Logistics. Impact: Kills 95%+ late rate on premium service.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5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25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1" i="0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5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 Black"/>
              <a:buNone/>
            </a:pPr>
            <a:r>
              <a:rPr b="0" i="0" lang="en-GB" sz="2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Stop the Bleed. Turn Data into Control.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5"/>
          <p:cNvSpPr/>
          <p:nvPr/>
        </p:nvSpPr>
        <p:spPr>
          <a:xfrm>
            <a:off x="457200" y="1463040"/>
            <a:ext cx="146304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5"/>
          <p:cNvSpPr/>
          <p:nvPr/>
        </p:nvSpPr>
        <p:spPr>
          <a:xfrm>
            <a:off x="457200" y="1463040"/>
            <a:ext cx="146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 Black"/>
              <a:buNone/>
            </a:pPr>
            <a:r>
              <a:rPr b="0" i="0" lang="en-GB" sz="9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THIS WEEK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5"/>
          <p:cNvSpPr/>
          <p:nvPr/>
        </p:nvSpPr>
        <p:spPr>
          <a:xfrm>
            <a:off x="2103120" y="1508760"/>
            <a:ext cx="658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Form cross-functional task force (Ops + Finance + IT + Risk)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/>
          <p:nvPr/>
        </p:nvSpPr>
        <p:spPr>
          <a:xfrm>
            <a:off x="457200" y="2057400"/>
            <a:ext cx="146304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5"/>
          <p:cNvSpPr/>
          <p:nvPr/>
        </p:nvSpPr>
        <p:spPr>
          <a:xfrm>
            <a:off x="457200" y="205740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 Black"/>
              <a:buNone/>
            </a:pPr>
            <a:r>
              <a:rPr b="0" i="0" lang="en-GB" sz="9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30 DAYS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5"/>
          <p:cNvSpPr/>
          <p:nvPr/>
        </p:nvSpPr>
        <p:spPr>
          <a:xfrm>
            <a:off x="2103120" y="2103120"/>
            <a:ext cx="658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Clean top 20% of aged-stuck value by $ impact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/>
          <p:nvPr/>
        </p:nvSpPr>
        <p:spPr>
          <a:xfrm>
            <a:off x="457200" y="2651760"/>
            <a:ext cx="146304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5"/>
          <p:cNvSpPr/>
          <p:nvPr/>
        </p:nvSpPr>
        <p:spPr>
          <a:xfrm>
            <a:off x="457200" y="265176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 Black"/>
              <a:buNone/>
            </a:pPr>
            <a:r>
              <a:rPr b="0" i="0" lang="en-GB" sz="9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60 DAYS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5"/>
          <p:cNvSpPr/>
          <p:nvPr/>
        </p:nvSpPr>
        <p:spPr>
          <a:xfrm>
            <a:off x="2103120" y="2697480"/>
            <a:ext cx="658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 escalation framework + mandatory status policy live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5"/>
          <p:cNvSpPr/>
          <p:nvPr/>
        </p:nvSpPr>
        <p:spPr>
          <a:xfrm>
            <a:off x="457200" y="3246120"/>
            <a:ext cx="146304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5"/>
          <p:cNvSpPr/>
          <p:nvPr/>
        </p:nvSpPr>
        <p:spPr>
          <a:xfrm>
            <a:off x="457200" y="32461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 Black"/>
              <a:buNone/>
            </a:pPr>
            <a:r>
              <a:rPr b="0" i="0" lang="en-GB" sz="9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90 DAYS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5"/>
          <p:cNvSpPr/>
          <p:nvPr/>
        </p:nvSpPr>
        <p:spPr>
          <a:xfrm>
            <a:off x="2103120" y="3291840"/>
            <a:ext cx="6583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Re-audit P&amp;L with stable unit cost baseline; measure late rate reduction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5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100"/>
              <a:buFont typeface="Arial"/>
              <a:buNone/>
            </a:pPr>
            <a:r>
              <a:rPr b="0" i="1" lang="en-GB" sz="1100" u="none" cap="none" strike="noStrike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Every day of delay costs real money and real trust.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 Black"/>
              <a:buNone/>
            </a:pPr>
            <a:r>
              <a:rPr b="0" i="0" lang="en-GB" sz="14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Let's schedule the kickoff.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